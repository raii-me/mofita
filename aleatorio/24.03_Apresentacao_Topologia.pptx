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5" r:id="rId6"/>
    <p:sldId id="293" r:id="rId7"/>
    <p:sldId id="286" r:id="rId8"/>
    <p:sldId id="288" r:id="rId9"/>
    <p:sldId id="289" r:id="rId10"/>
    <p:sldId id="295" r:id="rId11"/>
    <p:sldId id="290" r:id="rId12"/>
    <p:sldId id="291" r:id="rId13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90A1"/>
    <a:srgbClr val="9BA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8" autoAdjust="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981B7D-53F6-4039-A8FA-44779F95F4C7}" type="datetime1">
              <a:rPr lang="pt-BR" smtClean="0"/>
              <a:t>24/03/2026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FD1732DB-6DE7-4ED0-8D58-5BB99683AAF5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43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31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45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9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54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624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5624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959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008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13" name="Conector re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15" name="Conector re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9E3DC-7299-4B05-809A-5B49B2FE7AF9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3CAA7E-3E75-44C8-A2C7-4C05D52B2FA1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0" name="Retâ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4" name="Retâ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1" name="Retâ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22" name="Conector re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23" name="Conector re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7" name="Retâ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8" name="Retâ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29" name="Retâ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30" name="Retâ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31" name="Conector re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cxnSp>
        <p:nvCxnSpPr>
          <p:cNvPr id="33" name="Conector re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8CF2E68F-F985-4986-B024-0FC8C7AE2C1B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DA4F2-6A33-4AC7-8E78-BF93E4CA2325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ECF235-9052-434D-9210-E5F733C07A25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01FB55-4A16-41A5-BB72-289DDF81266B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6" name="Retâ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cxnSp>
        <p:nvCxnSpPr>
          <p:cNvPr id="7" name="Conector re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E0E9FA-B55D-4813-98B8-D8C2B1295A53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8E7951-E498-47D1-BE16-2C63407A06A1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6D5139B-774C-4260-8335-315AD6FC9ED3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AB6E8-DECC-4374-9E89-4B608ECFE3D5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11" name="Conector re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EE400E-D093-4D95-9BEC-411F2E346232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/>
          </a:p>
        </p:txBody>
      </p:sp>
      <p:sp>
        <p:nvSpPr>
          <p:cNvPr id="13" name="Retâ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/>
          </a:p>
        </p:txBody>
      </p:sp>
      <p:cxnSp>
        <p:nvCxnSpPr>
          <p:cNvPr id="16" name="Conector re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20DFF7A9-BA36-411E-AE0E-59A71496C0E4}" type="datetime1">
              <a:rPr lang="pt-BR" noProof="0" smtClean="0"/>
              <a:t>24/03/2026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Equipe_04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jpe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noProof="0" dirty="0"/>
              <a:t>Grupo_03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1</a:t>
            </a:fld>
            <a:endParaRPr lang="pt-BR" noProof="0"/>
          </a:p>
        </p:txBody>
      </p:sp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3855225" y="1533837"/>
            <a:ext cx="4478367" cy="1084024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pt-BR" sz="4000" dirty="0"/>
              <a:t>Topologia de Redes.</a:t>
            </a:r>
            <a:br>
              <a:rPr lang="pt-BR" sz="4000" dirty="0"/>
            </a:br>
            <a:r>
              <a:rPr lang="pt-BR" sz="4000" dirty="0"/>
              <a:t>Anel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3907221" y="2762998"/>
            <a:ext cx="4374374" cy="5953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rtl="0">
              <a:buNone/>
            </a:pPr>
            <a:r>
              <a:rPr lang="pt-BR" sz="2400" dirty="0"/>
              <a:t>Desenvolvimento de Sistemas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E773F132-2576-42A4-A8E2-E8C85095DDF4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FDEB2B5-B9EA-C075-0877-C27473274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0" name="Imagem 9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4D00AAF-7372-1224-7834-8FDBA2C4F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01D09122-4620-3F1A-69C8-80D230244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3" name="Fluxograma: Processo 12">
              <a:extLst>
                <a:ext uri="{FF2B5EF4-FFF2-40B4-BE49-F238E27FC236}">
                  <a16:creationId xmlns:a16="http://schemas.microsoft.com/office/drawing/2014/main" id="{0E915286-BE23-4956-88DA-86EBF808B417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Fluxograma: Processo 13">
              <a:extLst>
                <a:ext uri="{FF2B5EF4-FFF2-40B4-BE49-F238E27FC236}">
                  <a16:creationId xmlns:a16="http://schemas.microsoft.com/office/drawing/2014/main" id="{CB6A7877-8226-4B47-9164-83522AFE2D9C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Fluxograma: Processo 14">
              <a:extLst>
                <a:ext uri="{FF2B5EF4-FFF2-40B4-BE49-F238E27FC236}">
                  <a16:creationId xmlns:a16="http://schemas.microsoft.com/office/drawing/2014/main" id="{C29B5421-EFEC-4C19-81A5-CAB27AB8C37A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2706C8D7-6B07-85DE-639A-7F80FEA62C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342" y="3776519"/>
            <a:ext cx="2092139" cy="2092139"/>
          </a:xfrm>
          <a:prstGeom prst="rect">
            <a:avLst/>
          </a:prstGeom>
        </p:spPr>
      </p:pic>
      <p:sp>
        <p:nvSpPr>
          <p:cNvPr id="17" name="Espaço reservado para conteúdo 13">
            <a:extLst>
              <a:ext uri="{FF2B5EF4-FFF2-40B4-BE49-F238E27FC236}">
                <a16:creationId xmlns:a16="http://schemas.microsoft.com/office/drawing/2014/main" id="{C20286F7-532F-EB8F-9E02-354B6C46A8C5}"/>
              </a:ext>
            </a:extLst>
          </p:cNvPr>
          <p:cNvSpPr txBox="1">
            <a:spLocks/>
          </p:cNvSpPr>
          <p:nvPr/>
        </p:nvSpPr>
        <p:spPr>
          <a:xfrm>
            <a:off x="5518410" y="6013795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2</a:t>
            </a:fld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E3267D9C-182E-5F94-2C06-BCBD4BA751EE}"/>
              </a:ext>
            </a:extLst>
          </p:cNvPr>
          <p:cNvSpPr txBox="1">
            <a:spLocks/>
          </p:cNvSpPr>
          <p:nvPr/>
        </p:nvSpPr>
        <p:spPr>
          <a:xfrm>
            <a:off x="1250277" y="3616817"/>
            <a:ext cx="3659090" cy="1792779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defPPr rtl="0"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000" dirty="0"/>
              <a:t>Grupo_3:</a:t>
            </a:r>
          </a:p>
          <a:p>
            <a:pPr marL="246380" indent="-246380"/>
            <a:r>
              <a:rPr lang="pt-BR" sz="1400" dirty="0"/>
              <a:t>- Pedro Braga </a:t>
            </a:r>
            <a:r>
              <a:rPr lang="pt-BR" sz="1400" dirty="0" err="1"/>
              <a:t>Billafranca</a:t>
            </a:r>
            <a:endParaRPr lang="pt-BR" sz="1400" dirty="0"/>
          </a:p>
          <a:p>
            <a:pPr marL="246380" indent="-246380"/>
            <a:r>
              <a:rPr lang="pt-BR" sz="1400" dirty="0"/>
              <a:t>- </a:t>
            </a:r>
            <a:r>
              <a:rPr lang="pt-BR" sz="1400" dirty="0" err="1"/>
              <a:t>Italo</a:t>
            </a:r>
            <a:r>
              <a:rPr lang="pt-BR" sz="1400" dirty="0"/>
              <a:t> Bezerra de Souza</a:t>
            </a:r>
          </a:p>
          <a:p>
            <a:pPr marL="246380" indent="-246380"/>
            <a:r>
              <a:rPr lang="pt-BR" sz="1400" dirty="0"/>
              <a:t>- Lucas Guimarães dos Santos</a:t>
            </a:r>
          </a:p>
          <a:p>
            <a:pPr marL="0" indent="0" rtl="0">
              <a:buNone/>
            </a:pPr>
            <a:r>
              <a:rPr lang="pt-BR" sz="1400" dirty="0"/>
              <a:t>- Raí de </a:t>
            </a:r>
            <a:r>
              <a:rPr lang="pt-BR" sz="1400" dirty="0" err="1"/>
              <a:t>Vicêncio</a:t>
            </a:r>
            <a:r>
              <a:rPr lang="pt-BR" sz="1400" dirty="0"/>
              <a:t> Meneghini</a:t>
            </a:r>
          </a:p>
          <a:p>
            <a:pPr marL="0" indent="0" rtl="0">
              <a:buNone/>
            </a:pPr>
            <a:r>
              <a:rPr lang="pt-BR" sz="1400" dirty="0"/>
              <a:t>- Flavio Henrique da Costa Silva</a:t>
            </a:r>
          </a:p>
          <a:p>
            <a:pPr marL="246380" indent="-246380"/>
            <a:endParaRPr lang="pt-BR" sz="1800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AC5AEF17-B602-3D0F-528F-E5A38682A2D4}"/>
              </a:ext>
            </a:extLst>
          </p:cNvPr>
          <p:cNvSpPr txBox="1">
            <a:spLocks/>
          </p:cNvSpPr>
          <p:nvPr/>
        </p:nvSpPr>
        <p:spPr>
          <a:xfrm>
            <a:off x="1250277" y="2402416"/>
            <a:ext cx="3659090" cy="1792779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defPPr rtl="0"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2000" dirty="0"/>
              <a:t>Professor Orientador.</a:t>
            </a:r>
          </a:p>
          <a:p>
            <a:pPr marL="246380" indent="-246380"/>
            <a:r>
              <a:rPr lang="pt-BR" sz="1400" dirty="0"/>
              <a:t>- José Rubens Ferreira</a:t>
            </a:r>
          </a:p>
          <a:p>
            <a:pPr marL="246380" indent="-246380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2578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3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O que é Topologia de Redes de Anel?</a:t>
            </a:r>
            <a:endParaRPr lang="pt-BR" sz="1600" dirty="0"/>
          </a:p>
          <a:p>
            <a:pPr marL="0" indent="0">
              <a:buNone/>
            </a:pPr>
            <a:endParaRPr lang="pt-BR" sz="1600" dirty="0"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6004174" cy="4086770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600" dirty="0">
                <a:latin typeface="gg sans"/>
              </a:rPr>
              <a:t>   Criada em meados de 1960 e 1970 e popularizado pela IBM, a</a:t>
            </a:r>
            <a:r>
              <a:rPr lang="pt-BR" sz="1600" b="0" i="0" dirty="0">
                <a:effectLst/>
                <a:latin typeface="gg sans"/>
              </a:rPr>
              <a:t> </a:t>
            </a:r>
            <a:r>
              <a:rPr lang="pt-BR" sz="1600" b="1" i="0" dirty="0">
                <a:effectLst/>
                <a:latin typeface="gg sans"/>
              </a:rPr>
              <a:t>topologia anel </a:t>
            </a:r>
            <a:r>
              <a:rPr lang="pt-BR" sz="1600" b="0" i="0" dirty="0">
                <a:effectLst/>
                <a:latin typeface="gg sans"/>
              </a:rPr>
              <a:t>é um tipo de organização de redes de computadores, realizada de forma </a:t>
            </a:r>
            <a:r>
              <a:rPr lang="pt-BR" sz="1600" b="1" i="0" dirty="0">
                <a:effectLst/>
                <a:latin typeface="gg sans"/>
              </a:rPr>
              <a:t>circular</a:t>
            </a:r>
            <a:r>
              <a:rPr lang="pt-BR" sz="1600" b="0" i="0" dirty="0">
                <a:effectLst/>
                <a:latin typeface="gg sans"/>
              </a:rPr>
              <a:t>. </a:t>
            </a:r>
          </a:p>
          <a:p>
            <a:pPr marL="0" lvl="0" indent="0">
              <a:buNone/>
            </a:pPr>
            <a:r>
              <a:rPr lang="pt-BR" sz="1600" b="0" i="0" dirty="0">
                <a:effectLst/>
                <a:latin typeface="gg sans"/>
              </a:rPr>
              <a:t>    Isso significa que cada uma das máquinas possui duas </a:t>
            </a:r>
            <a:r>
              <a:rPr lang="pt-BR" sz="1600" b="1" i="0" dirty="0">
                <a:effectLst/>
                <a:latin typeface="gg sans"/>
              </a:rPr>
              <a:t>máquinas</a:t>
            </a:r>
            <a:r>
              <a:rPr lang="pt-BR" sz="1600" b="0" i="0" dirty="0">
                <a:effectLst/>
                <a:latin typeface="gg sans"/>
              </a:rPr>
              <a:t> </a:t>
            </a:r>
            <a:r>
              <a:rPr lang="pt-BR" sz="1600" b="1" i="0" dirty="0">
                <a:effectLst/>
                <a:latin typeface="gg sans"/>
              </a:rPr>
              <a:t>vizinhas</a:t>
            </a:r>
            <a:r>
              <a:rPr lang="pt-BR" sz="1600" dirty="0">
                <a:latin typeface="gg sans"/>
              </a:rPr>
              <a:t> </a:t>
            </a:r>
            <a:r>
              <a:rPr lang="pt-BR" sz="1600" b="0" i="0" dirty="0">
                <a:effectLst/>
                <a:latin typeface="gg sans"/>
              </a:rPr>
              <a:t>pelas quais é realizada a </a:t>
            </a:r>
            <a:r>
              <a:rPr lang="pt-BR" sz="1600" b="1" i="0" dirty="0">
                <a:effectLst/>
                <a:latin typeface="gg sans"/>
              </a:rPr>
              <a:t>transmissão</a:t>
            </a:r>
            <a:r>
              <a:rPr lang="pt-BR" sz="1600" b="0" i="0" dirty="0">
                <a:effectLst/>
                <a:latin typeface="gg sans"/>
              </a:rPr>
              <a:t> de </a:t>
            </a:r>
            <a:r>
              <a:rPr lang="pt-BR" sz="1600" b="1" i="0" dirty="0">
                <a:effectLst/>
                <a:latin typeface="gg sans"/>
              </a:rPr>
              <a:t>dados</a:t>
            </a:r>
            <a:r>
              <a:rPr lang="pt-BR" sz="1600" b="1" dirty="0">
                <a:latin typeface="gg sans"/>
              </a:rPr>
              <a:t>, </a:t>
            </a:r>
            <a:r>
              <a:rPr lang="pt-BR" sz="1600" dirty="0">
                <a:latin typeface="gg sans"/>
              </a:rPr>
              <a:t>servindo como um </a:t>
            </a:r>
            <a:r>
              <a:rPr lang="pt-BR" sz="1600" b="1" dirty="0">
                <a:latin typeface="gg sans"/>
              </a:rPr>
              <a:t>repetidor de sinal </a:t>
            </a:r>
            <a:r>
              <a:rPr lang="pt-BR" sz="1600" b="0" i="0" dirty="0">
                <a:effectLst/>
                <a:latin typeface="gg sans"/>
              </a:rPr>
              <a:t>. </a:t>
            </a:r>
          </a:p>
          <a:p>
            <a:pPr marL="0" lvl="0" indent="0">
              <a:buNone/>
            </a:pPr>
            <a:r>
              <a:rPr lang="pt-BR" sz="1600" b="0" i="0" dirty="0">
                <a:effectLst/>
                <a:latin typeface="gg sans"/>
              </a:rPr>
              <a:t>   Ou seja, é um </a:t>
            </a:r>
            <a:r>
              <a:rPr lang="pt-BR" sz="1600" b="1" i="0" dirty="0">
                <a:effectLst/>
                <a:latin typeface="gg sans"/>
              </a:rPr>
              <a:t>círculo de dispositivos conectados</a:t>
            </a:r>
            <a:r>
              <a:rPr lang="pt-BR" sz="1600" b="0" i="0" dirty="0">
                <a:effectLst/>
                <a:latin typeface="gg sans"/>
              </a:rPr>
              <a:t>, com fluxo de </a:t>
            </a:r>
            <a:r>
              <a:rPr lang="pt-BR" sz="1600" b="1" i="0" dirty="0">
                <a:effectLst/>
                <a:latin typeface="gg sans"/>
              </a:rPr>
              <a:t>dados</a:t>
            </a:r>
            <a:r>
              <a:rPr lang="pt-BR" sz="1600" b="0" i="0" dirty="0">
                <a:effectLst/>
                <a:latin typeface="gg sans"/>
              </a:rPr>
              <a:t> </a:t>
            </a:r>
            <a:r>
              <a:rPr lang="pt-BR" sz="1600" b="1" i="0" dirty="0">
                <a:effectLst/>
                <a:latin typeface="gg sans"/>
              </a:rPr>
              <a:t>unidirecional</a:t>
            </a:r>
            <a:r>
              <a:rPr lang="pt-BR" sz="1600" b="0" i="0" dirty="0">
                <a:effectLst/>
                <a:latin typeface="gg sans"/>
              </a:rPr>
              <a:t>  (apenas uma direção) e passa por cada computador até chegar ao seu destino.</a:t>
            </a:r>
          </a:p>
          <a:p>
            <a:pPr marL="0" lvl="0" indent="0">
              <a:buNone/>
            </a:pPr>
            <a:r>
              <a:rPr lang="pt-BR" sz="1600" b="0" i="0" dirty="0">
                <a:effectLst/>
                <a:latin typeface="gg sans"/>
              </a:rPr>
              <a:t>   Esse tipo de topologia é bem </a:t>
            </a:r>
            <a:r>
              <a:rPr lang="pt-BR" sz="1600" b="1" i="0" dirty="0">
                <a:effectLst/>
                <a:latin typeface="gg sans"/>
              </a:rPr>
              <a:t>eficiente</a:t>
            </a:r>
            <a:r>
              <a:rPr lang="pt-BR" sz="1600" b="0" i="0" dirty="0">
                <a:effectLst/>
                <a:latin typeface="gg sans"/>
              </a:rPr>
              <a:t> para transmissão de dados </a:t>
            </a:r>
            <a:r>
              <a:rPr lang="pt-BR" sz="1600" b="1" i="0" dirty="0">
                <a:effectLst/>
                <a:latin typeface="gg sans"/>
              </a:rPr>
              <a:t>sem erros</a:t>
            </a:r>
            <a:r>
              <a:rPr lang="pt-BR" sz="1600" b="0" i="0" dirty="0">
                <a:effectLst/>
                <a:latin typeface="gg sans"/>
              </a:rPr>
              <a:t>, tem grande </a:t>
            </a:r>
            <a:r>
              <a:rPr lang="pt-BR" sz="1600" b="1" i="0" dirty="0">
                <a:effectLst/>
                <a:latin typeface="gg sans"/>
              </a:rPr>
              <a:t>confiabilidade</a:t>
            </a:r>
            <a:r>
              <a:rPr lang="pt-BR" sz="1600" b="0" i="0" dirty="0">
                <a:effectLst/>
                <a:latin typeface="gg sans"/>
              </a:rPr>
              <a:t> e pode ser implementada em </a:t>
            </a:r>
            <a:r>
              <a:rPr lang="pt-BR" sz="1600" b="1" i="0" dirty="0">
                <a:effectLst/>
                <a:latin typeface="gg sans"/>
              </a:rPr>
              <a:t>grandes redes.</a:t>
            </a:r>
            <a:r>
              <a:rPr lang="pt-BR" sz="1600" b="0" i="0" dirty="0">
                <a:effectLst/>
                <a:latin typeface="gg sans"/>
              </a:rPr>
              <a:t> </a:t>
            </a:r>
          </a:p>
          <a:p>
            <a:pPr marL="0" lvl="0" indent="0">
              <a:buNone/>
            </a:pPr>
            <a:r>
              <a:rPr lang="pt-BR" sz="1600" b="0" i="0" dirty="0">
                <a:effectLst/>
                <a:latin typeface="gg sans"/>
              </a:rPr>
              <a:t> Porém, ela perdeu sua popularidade com a criação da topologia de redes de anéis duplos e novas redes mais eficientes.</a:t>
            </a:r>
          </a:p>
          <a:p>
            <a:pPr marL="0" lvl="0" indent="0">
              <a:buNone/>
            </a:pPr>
            <a:r>
              <a:rPr lang="pt-BR" sz="1600" dirty="0">
                <a:latin typeface="gg sans"/>
              </a:rPr>
              <a:t>   </a:t>
            </a:r>
            <a:endParaRPr lang="pt-BR" sz="1600" b="0" i="0" dirty="0">
              <a:effectLst/>
              <a:latin typeface="gg sans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7343EED4-E332-CB05-52BA-66F4DCA28CFC}"/>
              </a:ext>
            </a:extLst>
          </p:cNvPr>
          <p:cNvSpPr txBox="1">
            <a:spLocks/>
          </p:cNvSpPr>
          <p:nvPr/>
        </p:nvSpPr>
        <p:spPr>
          <a:xfrm>
            <a:off x="8335799" y="5004145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F93E1D34-960D-C7CE-B57B-E9AB080F2E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736" y="1567972"/>
            <a:ext cx="3432126" cy="343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0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4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Como ela Funciona.</a:t>
            </a:r>
            <a:endParaRPr lang="pt-BR" sz="1600" dirty="0"/>
          </a:p>
          <a:p>
            <a:pPr marL="0" indent="0">
              <a:buNone/>
            </a:pPr>
            <a:endParaRPr lang="pt-BR" sz="1600" dirty="0"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7322052" cy="3721645"/>
          </a:xfrm>
          <a:prstGeom prst="rect">
            <a:avLst/>
          </a:prstGeom>
        </p:spPr>
        <p:txBody>
          <a:bodyPr lIns="91440" tIns="45720" rIns="91440" bIns="45720" rtlCol="0" anchor="t">
            <a:normAutofit fontScale="92500"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Quando um computador precisa enviar dados, ele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fica aguardando o token passar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Ao receber o token (Uma Chave</a:t>
            </a:r>
            <a:r>
              <a:rPr lang="pt-BR" sz="1400" u="sng" dirty="0">
                <a:solidFill>
                  <a:schemeClr val="tx1">
                    <a:lumMod val="50000"/>
                  </a:schemeClr>
                </a:solidFill>
              </a:rPr>
              <a:t>),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o computador o captura e o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converte 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em um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quadro de dados (Um Envelope)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contendo:</a:t>
            </a:r>
          </a:p>
          <a:p>
            <a:pPr>
              <a:buFontTx/>
              <a:buChar char="-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as informações que serão enviadas</a:t>
            </a:r>
          </a:p>
          <a:p>
            <a:pPr>
              <a:buFontTx/>
              <a:buChar char="-"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o endereço do computador de destino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Token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Item responsável pelo controle da rede e concede permissão para envio dos dados, sem ele, a rede pode parar ate um novo token aparecer 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Depois disso, o quadro começa a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percorrer a rede passando de computador em computador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Cada dispositivo examina o endereço de destino:</a:t>
            </a: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-   se não for para ele, apenas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repassa o quadro para o próximo computador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-   se for o destino correto, o computador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copia os dados do quadro</a:t>
            </a: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Após isso, o quadro continua circulando pela rede até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voltar ao computador que o enviou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O computador emissor então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remove o quadro da rede e libera um novo token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, permitindo que outro dispositivo envie dados.</a:t>
            </a:r>
          </a:p>
        </p:txBody>
      </p:sp>
    </p:spTree>
    <p:extLst>
      <p:ext uri="{BB962C8B-B14F-4D97-AF65-F5344CB8AC3E}">
        <p14:creationId xmlns:p14="http://schemas.microsoft.com/office/powerpoint/2010/main" val="364381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5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Exemplo:</a:t>
            </a:r>
            <a:endParaRPr lang="pt-BR" sz="1600" dirty="0"/>
          </a:p>
          <a:p>
            <a:pPr marL="0" indent="0">
              <a:buNone/>
            </a:pPr>
            <a:endParaRPr lang="pt-BR" sz="1600" dirty="0"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AutoShape 2" descr=", gerada com IA">
            <a:extLst>
              <a:ext uri="{FF2B5EF4-FFF2-40B4-BE49-F238E27FC236}">
                <a16:creationId xmlns:a16="http://schemas.microsoft.com/office/drawing/2014/main" id="{2A22ECE9-E98F-6D8A-3EBB-C539584688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3276599"/>
            <a:ext cx="2927667" cy="292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 descr="Diagrama&#10;&#10;O conteúdo gerado por IA pode estar incorreto.">
            <a:extLst>
              <a:ext uri="{FF2B5EF4-FFF2-40B4-BE49-F238E27FC236}">
                <a16:creationId xmlns:a16="http://schemas.microsoft.com/office/drawing/2014/main" id="{3363A92E-C865-7DE7-A131-300C16B67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2928" y="1882391"/>
            <a:ext cx="5378919" cy="4397918"/>
          </a:xfrm>
          <a:prstGeom prst="rect">
            <a:avLst/>
          </a:prstGeom>
        </p:spPr>
      </p:pic>
      <p:sp>
        <p:nvSpPr>
          <p:cNvPr id="11" name="Espaço reservado para conteúdo 13">
            <a:extLst>
              <a:ext uri="{FF2B5EF4-FFF2-40B4-BE49-F238E27FC236}">
                <a16:creationId xmlns:a16="http://schemas.microsoft.com/office/drawing/2014/main" id="{29481BF0-2128-745D-D732-5985B2ED7962}"/>
              </a:ext>
            </a:extLst>
          </p:cNvPr>
          <p:cNvSpPr txBox="1">
            <a:spLocks/>
          </p:cNvSpPr>
          <p:nvPr/>
        </p:nvSpPr>
        <p:spPr>
          <a:xfrm>
            <a:off x="3686699" y="6158932"/>
            <a:ext cx="3127699" cy="146747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blog.xpeducacao.com.br + ChatGPT</a:t>
            </a:r>
          </a:p>
        </p:txBody>
      </p:sp>
    </p:spTree>
    <p:extLst>
      <p:ext uri="{BB962C8B-B14F-4D97-AF65-F5344CB8AC3E}">
        <p14:creationId xmlns:p14="http://schemas.microsoft.com/office/powerpoint/2010/main" val="26222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6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Aonde</a:t>
            </a:r>
            <a:r>
              <a:rPr lang="pt-BR" sz="1600" dirty="0"/>
              <a:t> </a:t>
            </a:r>
            <a:r>
              <a:rPr lang="pt-BR" sz="2000" b="1" dirty="0"/>
              <a:t>ela</a:t>
            </a:r>
            <a:r>
              <a:rPr lang="pt-BR" sz="1600" dirty="0"/>
              <a:t> </a:t>
            </a:r>
            <a:r>
              <a:rPr lang="pt-BR" sz="2000" b="1" dirty="0"/>
              <a:t>é utilizada?</a:t>
            </a:r>
          </a:p>
          <a:p>
            <a:pPr marL="0" indent="0">
              <a:buNone/>
            </a:pPr>
            <a:endParaRPr lang="pt-BR" sz="2000" b="1" dirty="0"/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6689973" cy="4086770"/>
          </a:xfrm>
          <a:prstGeom prst="rect">
            <a:avLst/>
          </a:prstGeom>
        </p:spPr>
        <p:txBody>
          <a:bodyPr lIns="91440" tIns="45720" rIns="91440" bIns="45720" rtlCol="0" anchor="t">
            <a:normAutofit fontScale="62500" lnSpcReduction="2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900" b="1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Sistemas que usam topologia de anel simples incluem:</a:t>
            </a:r>
          </a:p>
          <a:p>
            <a:pPr marL="0" lvl="0" indent="0">
              <a:buNone/>
            </a:pPr>
            <a:r>
              <a:rPr lang="pt-BR" sz="22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- </a:t>
            </a: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Redes locais (</a:t>
            </a:r>
            <a:r>
              <a:rPr lang="pt-BR" sz="22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LANs</a:t>
            </a: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) antigas</a:t>
            </a:r>
          </a:p>
          <a:p>
            <a:pPr marL="0" lvl="0" indent="0">
              <a:buNone/>
            </a:pP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Sistemas de controle industrial</a:t>
            </a:r>
          </a:p>
          <a:p>
            <a:pPr marL="0" lvl="0" indent="0">
              <a:buNone/>
            </a:pPr>
            <a:r>
              <a:rPr lang="pt-BR" sz="22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Algumas redes de fibra óptica (como FDDI, antes da adoção da dupla)</a:t>
            </a:r>
          </a:p>
          <a:p>
            <a:pPr marL="0" lvl="0" indent="0">
              <a:buNone/>
            </a:pPr>
            <a:r>
              <a:rPr lang="pt-BR" sz="2900" b="1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Topologia de Anel Duplo.</a:t>
            </a:r>
          </a:p>
          <a:p>
            <a:pPr marL="0" lvl="0" indent="0">
              <a:buNone/>
            </a:pPr>
            <a:r>
              <a:rPr lang="pt-BR" sz="21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  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Atualmente, a topologia de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anel duplo 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é mais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comum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por ser mais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confiável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, ela é usada principalmente em redes que precisam de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estabilidade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e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alta velocidade 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na </a:t>
            </a:r>
            <a:r>
              <a:rPr lang="pt-BR" sz="2500" b="1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transmissão</a:t>
            </a: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 de dados.</a:t>
            </a:r>
            <a:endParaRPr lang="pt-BR" sz="2500" i="0" dirty="0">
              <a:solidFill>
                <a:schemeClr val="tx1">
                  <a:lumMod val="50000"/>
                </a:schemeClr>
              </a:solidFill>
              <a:effectLst/>
              <a:latin typeface="gg sans"/>
            </a:endParaRPr>
          </a:p>
          <a:p>
            <a:pPr marL="0" lvl="0" indent="0">
              <a:buNone/>
            </a:pP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Redes de fibra óptica Especialmente nos </a:t>
            </a:r>
            <a:r>
              <a:rPr lang="pt-BR" sz="25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backbones</a:t>
            </a: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 da internet, que transportam grandes quantidades de informação. </a:t>
            </a:r>
          </a:p>
          <a:p>
            <a:pPr marL="0" lvl="0" indent="0">
              <a:buNone/>
            </a:pP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- Controle industrial Ambientes onde máquinas e sensores precisam se comunicar continuamente, sem interrupções. </a:t>
            </a:r>
          </a:p>
          <a:p>
            <a:pPr marL="0" lvl="0" indent="0">
              <a:buNone/>
            </a:pPr>
            <a:r>
              <a:rPr lang="pt-BR" sz="2500" dirty="0">
                <a:solidFill>
                  <a:schemeClr val="tx1">
                    <a:lumMod val="50000"/>
                  </a:schemeClr>
                </a:solidFill>
                <a:latin typeface="gg sans"/>
              </a:rPr>
              <a:t>- </a:t>
            </a: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Redes metropolitanas e </a:t>
            </a:r>
            <a:r>
              <a:rPr lang="pt-BR" sz="2500" b="0" i="0" dirty="0" err="1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WANs</a:t>
            </a:r>
            <a:r>
              <a:rPr lang="pt-BR" sz="2500" b="0" i="0" dirty="0">
                <a:solidFill>
                  <a:schemeClr val="tx1">
                    <a:lumMod val="50000"/>
                  </a:schemeClr>
                </a:solidFill>
                <a:effectLst/>
                <a:latin typeface="gg sans"/>
              </a:rPr>
              <a:t> Conectam cidades ou grandes regiões, exigindo comunicação eficiente e estável. </a:t>
            </a:r>
            <a:br>
              <a:rPr lang="pt-BR" sz="1400" dirty="0">
                <a:solidFill>
                  <a:schemeClr val="tx1">
                    <a:lumMod val="50000"/>
                  </a:schemeClr>
                </a:solidFill>
              </a:rPr>
            </a:b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pt-BR" sz="1400" dirty="0">
              <a:solidFill>
                <a:schemeClr val="tx1">
                  <a:lumMod val="50000"/>
                </a:schemeClr>
              </a:solidFill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05BA3EED-F16D-FDDE-4641-4C9C05686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785" y="2606131"/>
            <a:ext cx="2450253" cy="2450253"/>
          </a:xfrm>
          <a:prstGeom prst="rect">
            <a:avLst/>
          </a:prstGeom>
        </p:spPr>
      </p:pic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C27210A8-71D7-7D31-1444-ED18F7556F34}"/>
              </a:ext>
            </a:extLst>
          </p:cNvPr>
          <p:cNvSpPr txBox="1">
            <a:spLocks/>
          </p:cNvSpPr>
          <p:nvPr/>
        </p:nvSpPr>
        <p:spPr>
          <a:xfrm>
            <a:off x="8679310" y="5157843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756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7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781002" cy="504792"/>
          </a:xfrm>
          <a:prstGeom prst="rect">
            <a:avLst/>
          </a:prstGeom>
        </p:spPr>
        <p:txBody>
          <a:bodyPr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GB" sz="2000" b="1" dirty="0" err="1"/>
              <a:t>Aspectos</a:t>
            </a:r>
            <a:r>
              <a:rPr lang="en-GB" sz="2000" b="1" dirty="0"/>
              <a:t> </a:t>
            </a:r>
            <a:r>
              <a:rPr lang="en-GB" sz="2000" b="1" dirty="0" err="1"/>
              <a:t>Práticos</a:t>
            </a:r>
            <a:endParaRPr lang="pt-BR" sz="2000" b="1" dirty="0"/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 dirty="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2" y="2634706"/>
            <a:ext cx="6689973" cy="4086770"/>
          </a:xfrm>
          <a:prstGeom prst="rect">
            <a:avLst/>
          </a:prstGeom>
        </p:spPr>
        <p:txBody>
          <a:bodyPr lIns="91440" tIns="45720" rIns="91440" bIns="45720" rtlCol="0" anchor="t">
            <a:normAutofit fontScale="92500" lnSpcReduction="2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900" b="1" dirty="0" err="1">
                <a:solidFill>
                  <a:schemeClr val="tx1">
                    <a:lumMod val="50000"/>
                  </a:schemeClr>
                </a:solidFill>
              </a:rPr>
              <a:t>Segurança</a:t>
            </a:r>
            <a:endParaRPr lang="en-GB" sz="1900" b="1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en-GB" sz="1600" dirty="0" err="1">
                <a:solidFill>
                  <a:schemeClr val="tx1">
                    <a:lumMod val="50000"/>
                  </a:schemeClr>
                </a:solidFill>
              </a:rPr>
              <a:t>Necessidade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de </a:t>
            </a:r>
            <a:r>
              <a:rPr lang="en-GB" sz="1600" dirty="0" err="1">
                <a:solidFill>
                  <a:schemeClr val="tx1">
                    <a:lumMod val="50000"/>
                  </a:schemeClr>
                </a:solidFill>
              </a:rPr>
              <a:t>proteção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dos dados
- </a:t>
            </a:r>
            <a:r>
              <a:rPr lang="en-GB" sz="1600" dirty="0" err="1">
                <a:solidFill>
                  <a:schemeClr val="tx1">
                    <a:lumMod val="50000"/>
                  </a:schemeClr>
                </a:solidFill>
              </a:rPr>
              <a:t>Uso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de </a:t>
            </a:r>
            <a:r>
              <a:rPr lang="en-GB" sz="1600" dirty="0" err="1">
                <a:solidFill>
                  <a:schemeClr val="tx1">
                    <a:lumMod val="50000"/>
                  </a:schemeClr>
                </a:solidFill>
              </a:rPr>
              <a:t>criptografia</a:t>
            </a:r>
            <a:endParaRPr lang="en-GB" sz="16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sz="1400" b="1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1800" b="1" dirty="0" err="1">
                <a:solidFill>
                  <a:schemeClr val="tx1">
                    <a:lumMod val="50000"/>
                  </a:schemeClr>
                </a:solidFill>
              </a:rPr>
              <a:t>Manutenção</a:t>
            </a:r>
            <a:endParaRPr lang="en-GB" sz="1800" b="1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- Exige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planejamento</a:t>
            </a: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
-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Alterações</a:t>
            </a: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impactam</a:t>
            </a: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 a rede</a:t>
            </a:r>
          </a:p>
          <a:p>
            <a:endParaRPr lang="en-GB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1800" b="1" dirty="0" err="1">
                <a:solidFill>
                  <a:schemeClr val="tx1">
                    <a:lumMod val="50000"/>
                  </a:schemeClr>
                </a:solidFill>
              </a:rPr>
              <a:t>Desempenho</a:t>
            </a:r>
            <a:endParaRPr lang="en-GB" sz="1800" b="1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- Varia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conforme</a:t>
            </a: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 o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tamanho</a:t>
            </a: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 da rede</a:t>
            </a: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Influência</a:t>
            </a:r>
            <a:r>
              <a:rPr lang="en-GB" sz="1700" dirty="0">
                <a:solidFill>
                  <a:schemeClr val="tx1">
                    <a:lumMod val="50000"/>
                  </a:schemeClr>
                </a:solidFill>
              </a:rPr>
              <a:t> no tempo de </a:t>
            </a:r>
            <a:r>
              <a:rPr lang="en-GB" sz="1700" dirty="0" err="1">
                <a:solidFill>
                  <a:schemeClr val="tx1">
                    <a:lumMod val="50000"/>
                  </a:schemeClr>
                </a:solidFill>
              </a:rPr>
              <a:t>resposta</a:t>
            </a:r>
            <a:br>
              <a:rPr lang="pt-BR" sz="1400" dirty="0">
                <a:solidFill>
                  <a:schemeClr val="tx1">
                    <a:lumMod val="50000"/>
                  </a:schemeClr>
                </a:solidFill>
              </a:rPr>
            </a:br>
            <a:endParaRPr lang="pt-BR" sz="14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pt-BR" sz="1400" dirty="0">
              <a:solidFill>
                <a:schemeClr val="tx1">
                  <a:lumMod val="50000"/>
                </a:schemeClr>
              </a:solidFill>
              <a:latin typeface="Euphemia"/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Espaço reservado para conteúdo 13">
            <a:extLst>
              <a:ext uri="{FF2B5EF4-FFF2-40B4-BE49-F238E27FC236}">
                <a16:creationId xmlns:a16="http://schemas.microsoft.com/office/drawing/2014/main" id="{C27210A8-71D7-7D31-1444-ED18F7556F34}"/>
              </a:ext>
            </a:extLst>
          </p:cNvPr>
          <p:cNvSpPr txBox="1">
            <a:spLocks/>
          </p:cNvSpPr>
          <p:nvPr/>
        </p:nvSpPr>
        <p:spPr>
          <a:xfrm>
            <a:off x="8679310" y="5157843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E3516592-BC6C-EFF6-BD7B-DB1A42DBCE1E}"/>
              </a:ext>
            </a:extLst>
          </p:cNvPr>
          <p:cNvGrpSpPr/>
          <p:nvPr/>
        </p:nvGrpSpPr>
        <p:grpSpPr>
          <a:xfrm>
            <a:off x="7900631" y="2804952"/>
            <a:ext cx="2451600" cy="2451600"/>
            <a:chOff x="7317798" y="1868478"/>
            <a:chExt cx="2451600" cy="2451600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AEF6B25D-EE32-6327-2EB3-CEB81D7AE7AF}"/>
                </a:ext>
              </a:extLst>
            </p:cNvPr>
            <p:cNvGrpSpPr/>
            <p:nvPr/>
          </p:nvGrpSpPr>
          <p:grpSpPr>
            <a:xfrm>
              <a:off x="7317798" y="1868478"/>
              <a:ext cx="2451600" cy="2451600"/>
              <a:chOff x="3821407" y="976651"/>
              <a:chExt cx="4274866" cy="4274866"/>
            </a:xfrm>
          </p:grpSpPr>
          <p:pic>
            <p:nvPicPr>
              <p:cNvPr id="27" name="Imagem 26" descr="Forma&#10;&#10;O conteúdo gerado por IA pode estar incorreto.">
                <a:extLst>
                  <a:ext uri="{FF2B5EF4-FFF2-40B4-BE49-F238E27FC236}">
                    <a16:creationId xmlns:a16="http://schemas.microsoft.com/office/drawing/2014/main" id="{8B9D9CF7-B825-8535-51D3-4E844AF03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21407" y="976651"/>
                <a:ext cx="4274866" cy="4274866"/>
              </a:xfrm>
              <a:prstGeom prst="rect">
                <a:avLst/>
              </a:prstGeom>
            </p:spPr>
          </p:pic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3825424E-5624-0ABA-BC46-07470FE7CD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3098" y="2078297"/>
                <a:ext cx="2052000" cy="2052000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C7CE821C-089E-9023-9C7A-730830A2E3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75446" y="1222396"/>
                <a:ext cx="1301729" cy="1263629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2243FDA3-B8B3-F9F1-F078-52BDCD4238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4971" y="3734888"/>
                <a:ext cx="1301729" cy="1263629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4C4A5D83-D17D-9030-43A3-B0217C706301}"/>
                  </a:ext>
                </a:extLst>
              </p:cNvPr>
              <p:cNvSpPr/>
              <p:nvPr/>
            </p:nvSpPr>
            <p:spPr>
              <a:xfrm>
                <a:off x="6213729" y="2726403"/>
                <a:ext cx="632672" cy="75548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030AFFD4-EB58-A039-2EC8-213386A624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51305" y="3607152"/>
              <a:ext cx="441865" cy="468000"/>
              <a:chOff x="9663245" y="4169328"/>
              <a:chExt cx="788799" cy="864000"/>
            </a:xfrm>
          </p:grpSpPr>
          <p:pic>
            <p:nvPicPr>
              <p:cNvPr id="28" name="Imagem 27" descr="Forma&#10;&#10;O conteúdo gerado por IA pode estar incorreto.">
                <a:extLst>
                  <a:ext uri="{FF2B5EF4-FFF2-40B4-BE49-F238E27FC236}">
                    <a16:creationId xmlns:a16="http://schemas.microsoft.com/office/drawing/2014/main" id="{59C996EB-A71A-1FDF-C859-7960775CD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4352" r="4352"/>
              <a:stretch/>
            </p:blipFill>
            <p:spPr>
              <a:xfrm>
                <a:off x="9663245" y="4169328"/>
                <a:ext cx="788799" cy="864000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22" name="Imagem 21" descr="Forma&#10;&#10;O conteúdo gerado por IA pode estar incorreto.">
                <a:extLst>
                  <a:ext uri="{FF2B5EF4-FFF2-40B4-BE49-F238E27FC236}">
                    <a16:creationId xmlns:a16="http://schemas.microsoft.com/office/drawing/2014/main" id="{D01BC0FD-DA0C-44D3-FEA0-9D5AEDCAAD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27327" t="16361" r="26733" b="26960"/>
              <a:stretch/>
            </p:blipFill>
            <p:spPr>
              <a:xfrm>
                <a:off x="9871074" y="4285869"/>
                <a:ext cx="396599" cy="489331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89711E3D-A7B6-BEC4-80EF-72EF4453E1E5}"/>
                </a:ext>
              </a:extLst>
            </p:cNvPr>
            <p:cNvGrpSpPr/>
            <p:nvPr/>
          </p:nvGrpSpPr>
          <p:grpSpPr>
            <a:xfrm>
              <a:off x="7550400" y="2688988"/>
              <a:ext cx="813417" cy="820416"/>
              <a:chOff x="7537700" y="2688988"/>
              <a:chExt cx="813417" cy="820416"/>
            </a:xfrm>
          </p:grpSpPr>
          <p:pic>
            <p:nvPicPr>
              <p:cNvPr id="11" name="Imagem 10" descr="Forma&#10;&#10;O conteúdo gerado por IA pode estar incorreto.">
                <a:extLst>
                  <a:ext uri="{FF2B5EF4-FFF2-40B4-BE49-F238E27FC236}">
                    <a16:creationId xmlns:a16="http://schemas.microsoft.com/office/drawing/2014/main" id="{A3BE2A25-0810-EF52-AD0E-4721C9B55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t="45681" r="46565"/>
              <a:stretch/>
            </p:blipFill>
            <p:spPr>
              <a:xfrm>
                <a:off x="7537700" y="2688988"/>
                <a:ext cx="807067" cy="820416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35" name="Retângulo 34">
                <a:extLst>
                  <a:ext uri="{FF2B5EF4-FFF2-40B4-BE49-F238E27FC236}">
                    <a16:creationId xmlns:a16="http://schemas.microsoft.com/office/drawing/2014/main" id="{287013DE-D2B4-3974-3F74-EC34473F0395}"/>
                  </a:ext>
                </a:extLst>
              </p:cNvPr>
              <p:cNvSpPr/>
              <p:nvPr/>
            </p:nvSpPr>
            <p:spPr>
              <a:xfrm>
                <a:off x="8269958" y="3313744"/>
                <a:ext cx="81159" cy="1893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38" name="Imagem 37" descr="Forma&#10;&#10;O conteúdo gerado por IA pode estar incorreto.">
              <a:extLst>
                <a:ext uri="{FF2B5EF4-FFF2-40B4-BE49-F238E27FC236}">
                  <a16:creationId xmlns:a16="http://schemas.microsoft.com/office/drawing/2014/main" id="{474CE0FB-7504-7FE1-BBEC-810E74262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62450" y="2026819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934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8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994392" y="1882157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Vantagens e Desafios.</a:t>
            </a:r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42283" y="2237286"/>
            <a:ext cx="6397054" cy="4504082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A topologia em anel apresenta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vantagens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importantes relacionadas à organização da comunicação 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dados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. Porém, também possui alguns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desafios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que precisam ser considerados no planejamento da rede.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Vantagens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Organização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transmissão controlada pelo token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Sem colisões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apenas um dispositivo envia dados por vez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Estabilidade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velocidade mais previsível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Alcance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: cada nó regenera o sinal</a:t>
            </a:r>
          </a:p>
          <a:p>
            <a:pPr marL="0" lvl="0" indent="0">
              <a:buNone/>
            </a:pPr>
            <a:r>
              <a:rPr lang="pt-BR" sz="1800" b="1" dirty="0">
                <a:solidFill>
                  <a:schemeClr val="tx1">
                    <a:lumMod val="50000"/>
                  </a:schemeClr>
                </a:solidFill>
              </a:rPr>
              <a:t>Desafios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Falha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em um dispositivo pode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interromper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o anel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Expansão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da rede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exige interrupção 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temporária</a:t>
            </a:r>
          </a:p>
          <a:p>
            <a:pPr marL="0" lvl="0" indent="0">
              <a:buNone/>
            </a:pP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•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Maior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número de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dispositivos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</a:rPr>
              <a:t> pode aumentar a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latência</a:t>
            </a:r>
          </a:p>
          <a:p>
            <a:pPr marL="0" lvl="0" indent="0">
              <a:buNone/>
            </a:pPr>
            <a:r>
              <a:rPr lang="pt-BR" sz="1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pt-BR" sz="1400" b="1" dirty="0">
                <a:solidFill>
                  <a:schemeClr val="tx1">
                    <a:lumMod val="50000"/>
                  </a:schemeClr>
                </a:solidFill>
              </a:rPr>
              <a:t>Baixa velocidade </a:t>
            </a:r>
            <a:r>
              <a:rPr lang="pt-BR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envio ( de 4mb a 16mb )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98A651E-0531-8144-5602-614495B96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930" y="2500368"/>
            <a:ext cx="2657475" cy="2657475"/>
          </a:xfrm>
          <a:prstGeom prst="rect">
            <a:avLst/>
          </a:prstGeom>
        </p:spPr>
      </p:pic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AC9B0A98-CCA4-A224-B4C1-716ACF48B5A8}"/>
              </a:ext>
            </a:extLst>
          </p:cNvPr>
          <p:cNvSpPr txBox="1">
            <a:spLocks/>
          </p:cNvSpPr>
          <p:nvPr/>
        </p:nvSpPr>
        <p:spPr>
          <a:xfrm>
            <a:off x="8468900" y="5317364"/>
            <a:ext cx="1152001" cy="197419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1100" dirty="0"/>
              <a:t>Fonte: </a:t>
            </a:r>
            <a:r>
              <a:rPr lang="pt-BR" sz="1100" dirty="0" err="1"/>
              <a:t>Flaticon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77642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t-BR" dirty="0"/>
              <a:t>GRUPO_03</a:t>
            </a:r>
            <a:endParaRPr lang="pt-BR" noProof="0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DC1BBB0-96F0-4077-A278-0F3FB5C104D3}" type="slidenum">
              <a:rPr lang="pt-BR" noProof="0" smtClean="0"/>
              <a:pPr rtl="0"/>
              <a:t>9</a:t>
            </a:fld>
            <a:endParaRPr lang="pt-BR" noProof="0"/>
          </a:p>
        </p:txBody>
      </p:sp>
      <p:sp>
        <p:nvSpPr>
          <p:cNvPr id="4" name="Espaço reservado para conteúdo 13">
            <a:extLst>
              <a:ext uri="{FF2B5EF4-FFF2-40B4-BE49-F238E27FC236}">
                <a16:creationId xmlns:a16="http://schemas.microsoft.com/office/drawing/2014/main" id="{AB0CC641-942F-A979-7A76-A06B319BECB6}"/>
              </a:ext>
            </a:extLst>
          </p:cNvPr>
          <p:cNvSpPr txBox="1">
            <a:spLocks/>
          </p:cNvSpPr>
          <p:nvPr/>
        </p:nvSpPr>
        <p:spPr>
          <a:xfrm>
            <a:off x="1053852" y="2101339"/>
            <a:ext cx="4587996" cy="340109"/>
          </a:xfrm>
          <a:prstGeom prst="rect">
            <a:avLst/>
          </a:prstGeom>
        </p:spPr>
        <p:txBody>
          <a:bodyPr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sz="2000" b="1" dirty="0"/>
              <a:t>Fontes:</a:t>
            </a:r>
          </a:p>
          <a:p>
            <a:pPr marL="0" indent="0">
              <a:buNone/>
            </a:pPr>
            <a:endParaRPr lang="pt-BR" sz="2000" b="1" dirty="0"/>
          </a:p>
          <a:p>
            <a:pPr marL="0" lvl="0" indent="0">
              <a:lnSpc>
                <a:spcPct val="100000"/>
              </a:lnSpc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514D7A4-9A04-43AB-AD03-868BD45DCCF2}"/>
              </a:ext>
            </a:extLst>
          </p:cNvPr>
          <p:cNvSpPr txBox="1">
            <a:spLocks/>
          </p:cNvSpPr>
          <p:nvPr/>
        </p:nvSpPr>
        <p:spPr>
          <a:xfrm>
            <a:off x="1053852" y="836712"/>
            <a:ext cx="6397054" cy="7312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/>
              <a:t>Topologia de Redes (Anel)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AC38096E-FFB0-4096-B718-5B106E0333EE}"/>
              </a:ext>
            </a:extLst>
          </p:cNvPr>
          <p:cNvSpPr txBox="1">
            <a:spLocks/>
          </p:cNvSpPr>
          <p:nvPr/>
        </p:nvSpPr>
        <p:spPr>
          <a:xfrm>
            <a:off x="1053852" y="1506026"/>
            <a:ext cx="3969503" cy="595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Euphemia" pitchFamily="34" charset="0"/>
              <a:buNone/>
            </a:pPr>
            <a:r>
              <a:rPr lang="pt-BR" sz="1800"/>
              <a:t>Desenvolvimento de Sistemas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A97FB09-1084-4F0F-803A-2D806B2CEBE9}"/>
              </a:ext>
            </a:extLst>
          </p:cNvPr>
          <p:cNvGrpSpPr/>
          <p:nvPr/>
        </p:nvGrpSpPr>
        <p:grpSpPr>
          <a:xfrm>
            <a:off x="2629213" y="0"/>
            <a:ext cx="6913821" cy="620688"/>
            <a:chOff x="2629213" y="0"/>
            <a:chExt cx="6913821" cy="620688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83D13102-6025-47F5-B0E3-8AA22C45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4163" y="84791"/>
              <a:ext cx="1998871" cy="444194"/>
            </a:xfrm>
            <a:prstGeom prst="rect">
              <a:avLst/>
            </a:prstGeom>
          </p:spPr>
        </p:pic>
        <p:pic>
          <p:nvPicPr>
            <p:cNvPr id="16" name="Imagem 15" descr="Desenho com traços pretos em fundo branco e letras pretas em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D3CCA74-9EB9-45A6-82E7-C6D1339293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8617" y="116632"/>
              <a:ext cx="673021" cy="444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26FB451F-AAAA-4CC2-A23A-20EBF3FC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0549" y="116632"/>
              <a:ext cx="663678" cy="444194"/>
            </a:xfrm>
            <a:prstGeom prst="rect">
              <a:avLst/>
            </a:prstGeom>
          </p:spPr>
        </p:pic>
        <p:sp>
          <p:nvSpPr>
            <p:cNvPr id="18" name="Fluxograma: Processo 17">
              <a:extLst>
                <a:ext uri="{FF2B5EF4-FFF2-40B4-BE49-F238E27FC236}">
                  <a16:creationId xmlns:a16="http://schemas.microsoft.com/office/drawing/2014/main" id="{396D40AF-A43F-48E1-A329-DA9B0CC8B358}"/>
                </a:ext>
              </a:extLst>
            </p:cNvPr>
            <p:cNvSpPr/>
            <p:nvPr/>
          </p:nvSpPr>
          <p:spPr>
            <a:xfrm>
              <a:off x="2629213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luxograma: Processo 18">
              <a:extLst>
                <a:ext uri="{FF2B5EF4-FFF2-40B4-BE49-F238E27FC236}">
                  <a16:creationId xmlns:a16="http://schemas.microsoft.com/office/drawing/2014/main" id="{465F844C-49EC-4E27-9085-12E7654109C1}"/>
                </a:ext>
              </a:extLst>
            </p:cNvPr>
            <p:cNvSpPr/>
            <p:nvPr/>
          </p:nvSpPr>
          <p:spPr>
            <a:xfrm>
              <a:off x="4909367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luxograma: Processo 19">
              <a:extLst>
                <a:ext uri="{FF2B5EF4-FFF2-40B4-BE49-F238E27FC236}">
                  <a16:creationId xmlns:a16="http://schemas.microsoft.com/office/drawing/2014/main" id="{A8007038-1DB0-49B4-98E3-5989F3E512D2}"/>
                </a:ext>
              </a:extLst>
            </p:cNvPr>
            <p:cNvSpPr/>
            <p:nvPr/>
          </p:nvSpPr>
          <p:spPr>
            <a:xfrm>
              <a:off x="7215168" y="0"/>
              <a:ext cx="319404" cy="620688"/>
            </a:xfrm>
            <a:prstGeom prst="flowChartProcess">
              <a:avLst/>
            </a:prstGeom>
            <a:solidFill>
              <a:srgbClr val="9BAAB7"/>
            </a:solidFill>
            <a:ln>
              <a:solidFill>
                <a:srgbClr val="7D90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998AC609-AECE-DDCF-33CC-872A8CE937DF}"/>
              </a:ext>
            </a:extLst>
          </p:cNvPr>
          <p:cNvSpPr txBox="1">
            <a:spLocks/>
          </p:cNvSpPr>
          <p:nvPr/>
        </p:nvSpPr>
        <p:spPr>
          <a:xfrm>
            <a:off x="1053851" y="2634706"/>
            <a:ext cx="8044429" cy="3473486"/>
          </a:xfrm>
          <a:prstGeom prst="rect">
            <a:avLst/>
          </a:prstGeom>
        </p:spPr>
        <p:txBody>
          <a:bodyPr lIns="91440" tIns="45720" rIns="91440" bIns="45720" rtlCol="0" anchor="t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LENOVO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What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is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Ring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? Disponível em: https://www.lenovo.com/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br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pt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glossary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what-is-ring-topology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/. Acesso em: 10 mar. 2026.</a:t>
            </a:r>
          </a:p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IBM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Network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Disponível em: https://www.ibm.com/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br-pt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think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topics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/network-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Acesso em: 10 mar. 2026.</a:t>
            </a:r>
          </a:p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XP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EDUCAÇÃO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Topologia anel: conheça essa estrutura de rede de computadores. Disponível em: https://blog.xpeducacao.com.br/topologia-anel/. Acesso em: 10 mar. 2026.2. </a:t>
            </a:r>
          </a:p>
          <a:p>
            <a:pPr marL="0" lvl="0" indent="0" algn="just">
              <a:buNone/>
            </a:pPr>
            <a:r>
              <a:rPr lang="pt-BR" sz="1200" b="1" dirty="0">
                <a:solidFill>
                  <a:schemeClr val="tx1">
                    <a:lumMod val="50000"/>
                  </a:schemeClr>
                </a:solidFill>
              </a:rPr>
              <a:t>TUTORIALSPOINT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Advantages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and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disadvantages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of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ring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Disponível em: https://www.tutorialspoint.com/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article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pt-BR" sz="1200" dirty="0" err="1">
                <a:solidFill>
                  <a:schemeClr val="tx1">
                    <a:lumMod val="50000"/>
                  </a:schemeClr>
                </a:solidFill>
              </a:rPr>
              <a:t>advantages-and-disadvantages-of-ring-topology</a:t>
            </a:r>
            <a:r>
              <a:rPr lang="pt-BR" sz="1200" dirty="0">
                <a:solidFill>
                  <a:schemeClr val="tx1">
                    <a:lumMod val="50000"/>
                  </a:schemeClr>
                </a:solidFill>
              </a:rPr>
              <a:t>. Acesso em: 10 mar. 2026.</a:t>
            </a: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lv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  <a:latin typeface="Euphemia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0000"/>
              </a:lnSpc>
              <a:buNone/>
            </a:pPr>
            <a:endParaRPr lang="pt-BR" sz="1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6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emática 16: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57_TF02787947.potx" id="{F6616D8B-E49F-43FC-919C-EA67C56073C6}" vid="{41E3CBBC-B989-484B-85AF-2EEA8BFB5111}"/>
    </a:ext>
  </a:extLst>
</a:theme>
</file>

<file path=ppt/theme/theme2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b4913f-af3f-44de-9fc3-9568d3eb79a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94C02AA8B0A44ABC2891D7F8378B53" ma:contentTypeVersion="8" ma:contentTypeDescription="Crie um novo documento." ma:contentTypeScope="" ma:versionID="81ae6796f29dc1943095685c023b0da7">
  <xsd:schema xmlns:xsd="http://www.w3.org/2001/XMLSchema" xmlns:xs="http://www.w3.org/2001/XMLSchema" xmlns:p="http://schemas.microsoft.com/office/2006/metadata/properties" xmlns:ns2="cfb4913f-af3f-44de-9fc3-9568d3eb79a0" targetNamespace="http://schemas.microsoft.com/office/2006/metadata/properties" ma:root="true" ma:fieldsID="9a2bc6abf9047b161a389eed075ba21b" ns2:_="">
    <xsd:import namespace="cfb4913f-af3f-44de-9fc3-9568d3eb79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b4913f-af3f-44de-9fc3-9568d3eb79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1C8876-6DAA-45D3-9BDC-516F7FCA0414}">
  <ds:schemaRefs>
    <ds:schemaRef ds:uri="http://schemas.microsoft.com/office/2006/metadata/properties"/>
    <ds:schemaRef ds:uri="http://www.w3.org/2000/xmlns/"/>
    <ds:schemaRef ds:uri="cfb4913f-af3f-44de-9fc3-9568d3eb79a0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1921D19-86FA-4CD0-9E63-80556BBC4F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934139-1817-4B5D-AD33-859BDAA2053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fb4913f-af3f-44de-9fc3-9568d3eb79a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928</Words>
  <Application>Microsoft Office PowerPoint</Application>
  <PresentationFormat>Personalizar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Euphemia</vt:lpstr>
      <vt:lpstr>gg sans</vt:lpstr>
      <vt:lpstr>Matemática 16:9</vt:lpstr>
      <vt:lpstr>Topologia de Redes. Anel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Reforço Escolar</dc:title>
  <dc:creator>Prof. Paulo Rogério</dc:creator>
  <cp:lastModifiedBy>RAI_5125</cp:lastModifiedBy>
  <cp:revision>12</cp:revision>
  <dcterms:created xsi:type="dcterms:W3CDTF">2023-04-28T14:29:41Z</dcterms:created>
  <dcterms:modified xsi:type="dcterms:W3CDTF">2026-03-24T22:57:16Z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0x010100D694C02AA8B0A44ABC2891D7F8378B53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MediaServiceImageTags">
    <vt:lpwstr/>
  </property>
</Properties>
</file>